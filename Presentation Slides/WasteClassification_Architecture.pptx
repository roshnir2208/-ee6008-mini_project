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105" d="100"/>
          <a:sy n="105" d="100"/>
        </p:scale>
        <p:origin x="75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375376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234440" cy="292608"/>
          </a:xfrm>
          <a:prstGeom prst="roundRect">
            <a:avLst>
              <a:gd name="adj" fmla="val 46875"/>
            </a:avLst>
          </a:prstGeom>
          <a:solidFill>
            <a:srgbClr val="CCFBF1"/>
          </a:solidFill>
          <a:ln w="63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766E"/>
                </a:solidFill>
              </a:rPr>
              <a:t>Cardboard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965960" y="914400"/>
            <a:ext cx="1234440" cy="292608"/>
          </a:xfrm>
          <a:prstGeom prst="roundRect">
            <a:avLst>
              <a:gd name="adj" fmla="val 46875"/>
            </a:avLst>
          </a:prstGeom>
          <a:solidFill>
            <a:srgbClr val="CCFBF1"/>
          </a:solidFill>
          <a:ln w="63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1965960" y="91440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766E"/>
                </a:solidFill>
              </a:rPr>
              <a:t>Glass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91840" y="914400"/>
            <a:ext cx="1234440" cy="292608"/>
          </a:xfrm>
          <a:prstGeom prst="roundRect">
            <a:avLst>
              <a:gd name="adj" fmla="val 46875"/>
            </a:avLst>
          </a:prstGeom>
          <a:solidFill>
            <a:srgbClr val="CCFBF1"/>
          </a:solidFill>
          <a:ln w="63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291840" y="91440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766E"/>
                </a:solidFill>
              </a:rPr>
              <a:t>Metal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617720" y="914400"/>
            <a:ext cx="1234440" cy="292608"/>
          </a:xfrm>
          <a:prstGeom prst="roundRect">
            <a:avLst>
              <a:gd name="adj" fmla="val 46875"/>
            </a:avLst>
          </a:prstGeom>
          <a:solidFill>
            <a:srgbClr val="CCFBF1"/>
          </a:solidFill>
          <a:ln w="63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617720" y="91440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766E"/>
                </a:solidFill>
              </a:rPr>
              <a:t>Paper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943600" y="914400"/>
            <a:ext cx="1234440" cy="292608"/>
          </a:xfrm>
          <a:prstGeom prst="roundRect">
            <a:avLst>
              <a:gd name="adj" fmla="val 46875"/>
            </a:avLst>
          </a:prstGeom>
          <a:solidFill>
            <a:srgbClr val="CCFBF1"/>
          </a:solidFill>
          <a:ln w="63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5943600" y="91440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766E"/>
                </a:solidFill>
              </a:rPr>
              <a:t>Plastic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269480" y="914400"/>
            <a:ext cx="1234440" cy="292608"/>
          </a:xfrm>
          <a:prstGeom prst="roundRect">
            <a:avLst>
              <a:gd name="adj" fmla="val 46875"/>
            </a:avLst>
          </a:prstGeom>
          <a:solidFill>
            <a:srgbClr val="CCFBF1"/>
          </a:solidFill>
          <a:ln w="63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7269480" y="91440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766E"/>
                </a:solidFill>
              </a:rPr>
              <a:t>Trash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146304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 Classification System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548640" y="242316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ML Inference · OpenMV RT1062 · TFLite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1005840" y="3017520"/>
            <a:ext cx="2194560" cy="15087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1005840" y="3017520"/>
            <a:ext cx="219456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1828800" y="3145536"/>
            <a:ext cx="475488" cy="47548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1828800" y="31455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115568" y="3694176"/>
            <a:ext cx="197510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Data Pipeline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15568" y="4005072"/>
            <a:ext cx="197510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Roboflow dataset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6 waste categories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566160" y="3017520"/>
            <a:ext cx="2194560" cy="15087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3566160" y="3017520"/>
            <a:ext cx="219456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4389120" y="3145536"/>
            <a:ext cx="475488" cy="47548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4389120" y="31455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3675888" y="3694176"/>
            <a:ext cx="197510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Local Training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675888" y="4005072"/>
            <a:ext cx="197510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TFLite quantisation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Classifier + Detector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126480" y="3017520"/>
            <a:ext cx="2194560" cy="15087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6126480" y="3017520"/>
            <a:ext cx="2194560" cy="64008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6949440" y="3145536"/>
            <a:ext cx="475488" cy="475488"/>
          </a:xfrm>
          <a:prstGeom prst="ellipse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6949440" y="31455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236208" y="3694176"/>
            <a:ext cx="197510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Edge Inference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236208" y="4005072"/>
            <a:ext cx="197510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OpenMV RT1062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Real-time on-device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EE6008 Mini Project  ·  Edge AI  ·  Real-Time Inference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System Architecture Overview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20040" y="658368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0D9488"/>
                </a:solidFill>
              </a:rPr>
              <a:t>PHASE 1 — DATA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20040" y="1984245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7C3AED"/>
                </a:solidFill>
              </a:rPr>
              <a:t>PHASE 2 — TRAINING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280271" y="3343577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E11D48"/>
                </a:solidFill>
              </a:rPr>
              <a:t>PHASE 3 — DEPLOY &amp; INFER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320040" y="1828074"/>
            <a:ext cx="8503920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320040" y="3337560"/>
            <a:ext cx="8503920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320040" y="877824"/>
            <a:ext cx="1645920" cy="731520"/>
          </a:xfrm>
          <a:prstGeom prst="rect">
            <a:avLst/>
          </a:prstGeom>
          <a:solidFill>
            <a:srgbClr val="0F2920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320040" y="877824"/>
            <a:ext cx="164592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320040" y="914400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Roboflow Dataset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20040" y="1261872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</a:rPr>
              <a:t>universe.roboflow.com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1965960" y="1243584"/>
            <a:ext cx="3200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  <a:tailEnd type="arrow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2286000" y="886968"/>
            <a:ext cx="1097280" cy="274320"/>
          </a:xfrm>
          <a:prstGeom prst="roundRect">
            <a:avLst>
              <a:gd name="adj" fmla="val 40000"/>
            </a:avLst>
          </a:prstGeom>
          <a:solidFill>
            <a:srgbClr val="0F2920"/>
          </a:solidFill>
          <a:ln w="63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2286000" y="8869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EEAD4"/>
                </a:solidFill>
              </a:rPr>
              <a:t>Cardboard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474720" y="886968"/>
            <a:ext cx="1097280" cy="274320"/>
          </a:xfrm>
          <a:prstGeom prst="roundRect">
            <a:avLst>
              <a:gd name="adj" fmla="val 40000"/>
            </a:avLst>
          </a:prstGeom>
          <a:solidFill>
            <a:srgbClr val="0F2920"/>
          </a:solidFill>
          <a:ln w="63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3474720" y="8869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EEAD4"/>
                </a:solidFill>
              </a:rPr>
              <a:t>Glass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663440" y="886968"/>
            <a:ext cx="1097280" cy="274320"/>
          </a:xfrm>
          <a:prstGeom prst="roundRect">
            <a:avLst>
              <a:gd name="adj" fmla="val 40000"/>
            </a:avLst>
          </a:prstGeom>
          <a:solidFill>
            <a:srgbClr val="0F2920"/>
          </a:solidFill>
          <a:ln w="63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4663440" y="8869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EEAD4"/>
                </a:solidFill>
              </a:rPr>
              <a:t>Metal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2286000" y="1234440"/>
            <a:ext cx="1097280" cy="274320"/>
          </a:xfrm>
          <a:prstGeom prst="roundRect">
            <a:avLst>
              <a:gd name="adj" fmla="val 40000"/>
            </a:avLst>
          </a:prstGeom>
          <a:solidFill>
            <a:srgbClr val="0F2920"/>
          </a:solidFill>
          <a:ln w="63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2286000" y="12344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EEAD4"/>
                </a:solidFill>
              </a:rPr>
              <a:t>Paper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474720" y="1234440"/>
            <a:ext cx="1097280" cy="274320"/>
          </a:xfrm>
          <a:prstGeom prst="roundRect">
            <a:avLst>
              <a:gd name="adj" fmla="val 40000"/>
            </a:avLst>
          </a:prstGeom>
          <a:solidFill>
            <a:srgbClr val="0F2920"/>
          </a:solidFill>
          <a:ln w="63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3474720" y="12344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EEAD4"/>
                </a:solidFill>
              </a:rPr>
              <a:t>Plastic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663440" y="1234440"/>
            <a:ext cx="1097280" cy="274320"/>
          </a:xfrm>
          <a:prstGeom prst="roundRect">
            <a:avLst>
              <a:gd name="adj" fmla="val 40000"/>
            </a:avLst>
          </a:prstGeom>
          <a:solidFill>
            <a:srgbClr val="0F2920"/>
          </a:solidFill>
          <a:ln w="63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4663440" y="12344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EEAD4"/>
                </a:solidFill>
              </a:rPr>
              <a:t>Trash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5943600" y="1243584"/>
            <a:ext cx="27432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  <a:tailEnd type="arrow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6217920" y="877824"/>
            <a:ext cx="1371600" cy="731520"/>
          </a:xfrm>
          <a:prstGeom prst="rect">
            <a:avLst/>
          </a:prstGeom>
          <a:solidFill>
            <a:srgbClr val="1A1A2E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6217920" y="91440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Augmentation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217920" y="123444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</a:rPr>
              <a:t>Optional / OpenMV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</a:rPr>
              <a:t>captured photos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7589520" y="1243584"/>
            <a:ext cx="27432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  <a:tailEnd type="arrow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7863840" y="877824"/>
            <a:ext cx="914400" cy="731520"/>
          </a:xfrm>
          <a:prstGeom prst="rect">
            <a:avLst/>
          </a:prstGeom>
          <a:solidFill>
            <a:srgbClr val="1A1A2E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7863840" y="877824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Train /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Val / Test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914400" y="2176272"/>
            <a:ext cx="2926080" cy="804672"/>
          </a:xfrm>
          <a:prstGeom prst="rect">
            <a:avLst/>
          </a:prstGeom>
          <a:solidFill>
            <a:srgbClr val="1A0F2E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914400" y="2176272"/>
            <a:ext cx="2926080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914400" y="2221992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Classifier Training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914400" y="2542032"/>
            <a:ext cx="2926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Transfer learning (MobileNet/CNN)  ·  Output: trained.tflite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5120640" y="2176272"/>
            <a:ext cx="2926080" cy="804672"/>
          </a:xfrm>
          <a:prstGeom prst="rect">
            <a:avLst/>
          </a:prstGeom>
          <a:solidFill>
            <a:srgbClr val="2D0A18"/>
          </a:solidFill>
          <a:ln w="12700">
            <a:solidFill>
              <a:srgbClr val="E11D4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Shape 35"/>
          <p:cNvSpPr/>
          <p:nvPr/>
        </p:nvSpPr>
        <p:spPr>
          <a:xfrm>
            <a:off x="5120640" y="2176272"/>
            <a:ext cx="2926080" cy="36576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5120640" y="2221992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Detector Training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120640" y="2542032"/>
            <a:ext cx="2926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Bounding box localisation  ·  Output: detector.tflite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3931920" y="2240280"/>
            <a:ext cx="1097280" cy="640080"/>
          </a:xfrm>
          <a:prstGeom prst="rect">
            <a:avLst/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3931920" y="224028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labels.txt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3931920" y="25603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</a:rPr>
              <a:t>class lookup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2377440" y="2980944"/>
            <a:ext cx="0" cy="384048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  <a:tailEnd type="arrow"/>
          </a:ln>
        </p:spPr>
        <p:txBody>
          <a:bodyPr/>
          <a:lstStyle/>
          <a:p>
            <a:endParaRPr lang="en-IN"/>
          </a:p>
        </p:txBody>
      </p:sp>
      <p:sp>
        <p:nvSpPr>
          <p:cNvPr id="44" name="Shape 42"/>
          <p:cNvSpPr/>
          <p:nvPr/>
        </p:nvSpPr>
        <p:spPr>
          <a:xfrm>
            <a:off x="4480560" y="2880360"/>
            <a:ext cx="0" cy="484632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  <a:tailEnd type="arrow"/>
          </a:ln>
        </p:spPr>
        <p:txBody>
          <a:bodyPr/>
          <a:lstStyle/>
          <a:p>
            <a:endParaRPr lang="en-IN"/>
          </a:p>
        </p:txBody>
      </p:sp>
      <p:sp>
        <p:nvSpPr>
          <p:cNvPr id="45" name="Shape 43"/>
          <p:cNvSpPr/>
          <p:nvPr/>
        </p:nvSpPr>
        <p:spPr>
          <a:xfrm>
            <a:off x="6583680" y="2980944"/>
            <a:ext cx="0" cy="384048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  <a:tailEnd type="arrow"/>
          </a:ln>
        </p:spPr>
        <p:txBody>
          <a:bodyPr/>
          <a:lstStyle/>
          <a:p>
            <a:endParaRPr lang="en-IN"/>
          </a:p>
        </p:txBody>
      </p:sp>
      <p:sp>
        <p:nvSpPr>
          <p:cNvPr id="46" name="Shape 44"/>
          <p:cNvSpPr/>
          <p:nvPr/>
        </p:nvSpPr>
        <p:spPr>
          <a:xfrm>
            <a:off x="320040" y="3547871"/>
            <a:ext cx="8671560" cy="1426459"/>
          </a:xfrm>
          <a:prstGeom prst="rect">
            <a:avLst/>
          </a:prstGeom>
          <a:solidFill>
            <a:srgbClr val="0A1628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Shape 45"/>
          <p:cNvSpPr/>
          <p:nvPr/>
        </p:nvSpPr>
        <p:spPr>
          <a:xfrm>
            <a:off x="320040" y="3547872"/>
            <a:ext cx="8671560" cy="6401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320040" y="3584448"/>
            <a:ext cx="8503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OpenMV RT1062  —  On-Device Inference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502920" y="3950208"/>
            <a:ext cx="1554480" cy="749808"/>
          </a:xfrm>
          <a:prstGeom prst="rect">
            <a:avLst/>
          </a:prstGeom>
          <a:solidFill>
            <a:srgbClr val="0F172A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Shape 48"/>
          <p:cNvSpPr/>
          <p:nvPr/>
        </p:nvSpPr>
        <p:spPr>
          <a:xfrm>
            <a:off x="502920" y="3950208"/>
            <a:ext cx="1554480" cy="36576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Text 49"/>
          <p:cNvSpPr/>
          <p:nvPr/>
        </p:nvSpPr>
        <p:spPr>
          <a:xfrm>
            <a:off x="502920" y="3986784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main.py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502920" y="429768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</a:rPr>
              <a:t>reads run_mode.txt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2240280" y="3950208"/>
            <a:ext cx="1554480" cy="749808"/>
          </a:xfrm>
          <a:prstGeom prst="rect">
            <a:avLst/>
          </a:prstGeom>
          <a:solidFill>
            <a:srgbClr val="0F172A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" name="Shape 52"/>
          <p:cNvSpPr/>
          <p:nvPr/>
        </p:nvSpPr>
        <p:spPr>
          <a:xfrm>
            <a:off x="2240280" y="3950208"/>
            <a:ext cx="1554480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Text 53"/>
          <p:cNvSpPr/>
          <p:nvPr/>
        </p:nvSpPr>
        <p:spPr>
          <a:xfrm>
            <a:off x="2240280" y="3986784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Camera capture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2240280" y="429768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</a:rPr>
              <a:t>preprocess frame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3977640" y="3950208"/>
            <a:ext cx="1554480" cy="749808"/>
          </a:xfrm>
          <a:prstGeom prst="rect">
            <a:avLst/>
          </a:prstGeom>
          <a:solidFill>
            <a:srgbClr val="0F172A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8" name="Shape 56"/>
          <p:cNvSpPr/>
          <p:nvPr/>
        </p:nvSpPr>
        <p:spPr>
          <a:xfrm>
            <a:off x="3977640" y="3950208"/>
            <a:ext cx="1554480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" name="Text 57"/>
          <p:cNvSpPr/>
          <p:nvPr/>
        </p:nvSpPr>
        <p:spPr>
          <a:xfrm>
            <a:off x="3977640" y="3986784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TFLite inference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3977640" y="429768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</a:rPr>
              <a:t>trained / detector.tflite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5806440" y="3950208"/>
            <a:ext cx="1554480" cy="749808"/>
          </a:xfrm>
          <a:prstGeom prst="rect">
            <a:avLst/>
          </a:prstGeom>
          <a:solidFill>
            <a:srgbClr val="0F172A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2" name="Shape 60"/>
          <p:cNvSpPr/>
          <p:nvPr/>
        </p:nvSpPr>
        <p:spPr>
          <a:xfrm>
            <a:off x="5806440" y="3950208"/>
            <a:ext cx="155448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3" name="Text 61"/>
          <p:cNvSpPr/>
          <p:nvPr/>
        </p:nvSpPr>
        <p:spPr>
          <a:xfrm>
            <a:off x="5806440" y="3986784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Classify output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5806440" y="429768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</a:rPr>
              <a:t>class + confidence</a:t>
            </a:r>
            <a:endParaRPr lang="en-US" sz="750" dirty="0"/>
          </a:p>
        </p:txBody>
      </p:sp>
      <p:sp>
        <p:nvSpPr>
          <p:cNvPr id="65" name="Shape 63"/>
          <p:cNvSpPr/>
          <p:nvPr/>
        </p:nvSpPr>
        <p:spPr>
          <a:xfrm>
            <a:off x="7315200" y="3950208"/>
            <a:ext cx="1554480" cy="749808"/>
          </a:xfrm>
          <a:prstGeom prst="rect">
            <a:avLst/>
          </a:prstGeom>
          <a:solidFill>
            <a:srgbClr val="0F172A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6" name="Shape 64"/>
          <p:cNvSpPr/>
          <p:nvPr/>
        </p:nvSpPr>
        <p:spPr>
          <a:xfrm>
            <a:off x="7315200" y="3950208"/>
            <a:ext cx="1554480" cy="3657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7" name="Text 65"/>
          <p:cNvSpPr/>
          <p:nvPr/>
        </p:nvSpPr>
        <p:spPr>
          <a:xfrm>
            <a:off x="7315200" y="3986784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Detect output</a:t>
            </a:r>
            <a:endParaRPr lang="en-US" sz="850" dirty="0"/>
          </a:p>
        </p:txBody>
      </p:sp>
      <p:sp>
        <p:nvSpPr>
          <p:cNvPr id="68" name="Text 66"/>
          <p:cNvSpPr/>
          <p:nvPr/>
        </p:nvSpPr>
        <p:spPr>
          <a:xfrm>
            <a:off x="7315200" y="429768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</a:rPr>
              <a:t>bounding boxes</a:t>
            </a:r>
            <a:endParaRPr lang="en-US" sz="750" dirty="0"/>
          </a:p>
        </p:txBody>
      </p:sp>
      <p:sp>
        <p:nvSpPr>
          <p:cNvPr id="69" name="Shape 67"/>
          <p:cNvSpPr/>
          <p:nvPr/>
        </p:nvSpPr>
        <p:spPr>
          <a:xfrm>
            <a:off x="2057400" y="4315968"/>
            <a:ext cx="18288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  <a:tailEnd type="arrow"/>
          </a:ln>
        </p:spPr>
        <p:txBody>
          <a:bodyPr/>
          <a:lstStyle/>
          <a:p>
            <a:endParaRPr lang="en-IN"/>
          </a:p>
        </p:txBody>
      </p:sp>
      <p:sp>
        <p:nvSpPr>
          <p:cNvPr id="70" name="Shape 68"/>
          <p:cNvSpPr/>
          <p:nvPr/>
        </p:nvSpPr>
        <p:spPr>
          <a:xfrm>
            <a:off x="3794760" y="4315968"/>
            <a:ext cx="18288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  <a:tailEnd type="arrow"/>
          </a:ln>
        </p:spPr>
        <p:txBody>
          <a:bodyPr/>
          <a:lstStyle/>
          <a:p>
            <a:endParaRPr lang="en-IN"/>
          </a:p>
        </p:txBody>
      </p:sp>
      <p:sp>
        <p:nvSpPr>
          <p:cNvPr id="71" name="Shape 69"/>
          <p:cNvSpPr/>
          <p:nvPr/>
        </p:nvSpPr>
        <p:spPr>
          <a:xfrm>
            <a:off x="5532120" y="4315968"/>
            <a:ext cx="18288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  <a:tailEnd type="arrow"/>
          </a:ln>
        </p:spPr>
        <p:txBody>
          <a:bodyPr/>
          <a:lstStyle/>
          <a:p>
            <a:endParaRPr lang="en-IN"/>
          </a:p>
        </p:txBody>
      </p:sp>
      <p:sp>
        <p:nvSpPr>
          <p:cNvPr id="72" name="Shape 70"/>
          <p:cNvSpPr/>
          <p:nvPr/>
        </p:nvSpPr>
        <p:spPr>
          <a:xfrm>
            <a:off x="7360920" y="4315968"/>
            <a:ext cx="18288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  <a:tailEnd type="arrow"/>
          </a:ln>
        </p:spPr>
        <p:txBody>
          <a:bodyPr/>
          <a:lstStyle/>
          <a:p>
            <a:endParaRPr lang="en-IN"/>
          </a:p>
        </p:txBody>
      </p:sp>
      <p:sp>
        <p:nvSpPr>
          <p:cNvPr id="73" name="Shape 71"/>
          <p:cNvSpPr/>
          <p:nvPr/>
        </p:nvSpPr>
        <p:spPr>
          <a:xfrm>
            <a:off x="457200" y="4983480"/>
            <a:ext cx="164592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4" name="Text 72"/>
          <p:cNvSpPr/>
          <p:nvPr/>
        </p:nvSpPr>
        <p:spPr>
          <a:xfrm>
            <a:off x="658368" y="4974336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Data</a:t>
            </a:r>
            <a:endParaRPr lang="en-US" sz="850" dirty="0"/>
          </a:p>
        </p:txBody>
      </p:sp>
      <p:sp>
        <p:nvSpPr>
          <p:cNvPr id="75" name="Shape 73"/>
          <p:cNvSpPr/>
          <p:nvPr/>
        </p:nvSpPr>
        <p:spPr>
          <a:xfrm>
            <a:off x="2148840" y="4983480"/>
            <a:ext cx="164592" cy="1645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6" name="Text 74"/>
          <p:cNvSpPr/>
          <p:nvPr/>
        </p:nvSpPr>
        <p:spPr>
          <a:xfrm>
            <a:off x="2350008" y="4974336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Training</a:t>
            </a:r>
            <a:endParaRPr lang="en-US" sz="850" dirty="0"/>
          </a:p>
        </p:txBody>
      </p:sp>
      <p:sp>
        <p:nvSpPr>
          <p:cNvPr id="77" name="Shape 75"/>
          <p:cNvSpPr/>
          <p:nvPr/>
        </p:nvSpPr>
        <p:spPr>
          <a:xfrm>
            <a:off x="3840480" y="4983480"/>
            <a:ext cx="164592" cy="164592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8" name="Text 76"/>
          <p:cNvSpPr/>
          <p:nvPr/>
        </p:nvSpPr>
        <p:spPr>
          <a:xfrm>
            <a:off x="4041648" y="4974336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Detector</a:t>
            </a:r>
            <a:endParaRPr lang="en-US" sz="850" dirty="0"/>
          </a:p>
        </p:txBody>
      </p:sp>
      <p:sp>
        <p:nvSpPr>
          <p:cNvPr id="79" name="Shape 77"/>
          <p:cNvSpPr/>
          <p:nvPr/>
        </p:nvSpPr>
        <p:spPr>
          <a:xfrm>
            <a:off x="5532120" y="4983480"/>
            <a:ext cx="164592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0" name="Text 78"/>
          <p:cNvSpPr/>
          <p:nvPr/>
        </p:nvSpPr>
        <p:spPr>
          <a:xfrm>
            <a:off x="5733288" y="4974336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On-device</a:t>
            </a:r>
            <a:endParaRPr lang="en-US" sz="850" dirty="0"/>
          </a:p>
        </p:txBody>
      </p:sp>
      <p:sp>
        <p:nvSpPr>
          <p:cNvPr id="81" name="Shape 79"/>
          <p:cNvSpPr/>
          <p:nvPr/>
        </p:nvSpPr>
        <p:spPr>
          <a:xfrm>
            <a:off x="7223760" y="4983480"/>
            <a:ext cx="164592" cy="1645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2" name="Text 80"/>
          <p:cNvSpPr/>
          <p:nvPr/>
        </p:nvSpPr>
        <p:spPr>
          <a:xfrm>
            <a:off x="7424928" y="4974336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Output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Phase 2 — Model Training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65760" y="59436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All training performed locally — no cloud platforms used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4206240" cy="3200400"/>
          </a:xfrm>
          <a:prstGeom prst="rect">
            <a:avLst/>
          </a:prstGeom>
          <a:solidFill>
            <a:srgbClr val="1A0F2E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420624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48640" y="105156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Image Classifier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94360" y="1572768"/>
            <a:ext cx="201168" cy="20116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868680" y="155448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Transfer learning on MobileNet backbone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94360" y="2048256"/>
            <a:ext cx="201168" cy="20116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868680" y="202996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Trained on 6-class Roboflow dataset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94360" y="2523744"/>
            <a:ext cx="201168" cy="20116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868680" y="2505456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Int8 post-training quantisation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94360" y="2999232"/>
            <a:ext cx="201168" cy="20116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868680" y="2980944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Optimised for OpenMV memory constraints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914400" y="3520440"/>
            <a:ext cx="3108960" cy="402336"/>
          </a:xfrm>
          <a:prstGeom prst="roundRect">
            <a:avLst>
              <a:gd name="adj" fmla="val 45455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914400" y="3520440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Output: trained.tflite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937760" y="960120"/>
            <a:ext cx="4206240" cy="3200400"/>
          </a:xfrm>
          <a:prstGeom prst="rect">
            <a:avLst/>
          </a:prstGeom>
          <a:solidFill>
            <a:srgbClr val="2D0A18"/>
          </a:solidFill>
          <a:ln w="12700">
            <a:solidFill>
              <a:srgbClr val="E11D4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4937760" y="960120"/>
            <a:ext cx="4206240" cy="54864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5120640" y="105156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Object Detector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166360" y="1572768"/>
            <a:ext cx="201168" cy="201168"/>
          </a:xfrm>
          <a:prstGeom prst="ellipse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5440680" y="155448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Bounding box regression head added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166360" y="2048256"/>
            <a:ext cx="201168" cy="201168"/>
          </a:xfrm>
          <a:prstGeom prst="ellipse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5440680" y="202996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Localise waste items in frame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166360" y="2523744"/>
            <a:ext cx="201168" cy="201168"/>
          </a:xfrm>
          <a:prstGeom prst="ellipse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5440680" y="2505456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Quantised to TFLite compact format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166360" y="2999232"/>
            <a:ext cx="201168" cy="201168"/>
          </a:xfrm>
          <a:prstGeom prst="ellipse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5440680" y="2980944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Outputs class label + bounding box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486400" y="3520440"/>
            <a:ext cx="3108960" cy="402336"/>
          </a:xfrm>
          <a:prstGeom prst="roundRect">
            <a:avLst>
              <a:gd name="adj" fmla="val 45455"/>
            </a:avLst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5486400" y="3520440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Output: detector.tflite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017520" y="4206240"/>
            <a:ext cx="3108960" cy="640080"/>
          </a:xfrm>
          <a:prstGeom prst="rect">
            <a:avLst/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3017520" y="420624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labels.txt — Shared class name lookup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468880" y="4160520"/>
            <a:ext cx="548640" cy="109728"/>
          </a:xfrm>
          <a:prstGeom prst="line">
            <a:avLst/>
          </a:prstGeom>
          <a:noFill/>
          <a:ln w="9525">
            <a:solidFill>
              <a:srgbClr val="94A3B8"/>
            </a:solidFill>
            <a:prstDash val="solid"/>
            <a:tailEnd type="arrow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6126480" y="4160520"/>
            <a:ext cx="0" cy="109728"/>
          </a:xfrm>
          <a:prstGeom prst="line">
            <a:avLst/>
          </a:prstGeom>
          <a:noFill/>
          <a:ln w="9525">
            <a:solidFill>
              <a:srgbClr val="94A3B8"/>
            </a:solidFill>
            <a:prstDash val="solid"/>
            <a:tailEnd type="arrow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Phase 3 — On-Device Inference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20039" y="713232"/>
            <a:ext cx="8765903" cy="4133088"/>
          </a:xfrm>
          <a:prstGeom prst="rect">
            <a:avLst/>
          </a:prstGeom>
          <a:solidFill>
            <a:srgbClr val="0A1628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320040" y="713231"/>
            <a:ext cx="8765902" cy="112347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11480" y="74980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OpenMV RT1062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1158058"/>
            <a:ext cx="1645920" cy="1691640"/>
          </a:xfrm>
          <a:prstGeom prst="rect">
            <a:avLst/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41918" y="117043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4A3B8"/>
                </a:solidFill>
              </a:rPr>
              <a:t>Mode switcher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52095" y="1481328"/>
            <a:ext cx="1207008" cy="493776"/>
          </a:xfrm>
          <a:prstGeom prst="rect">
            <a:avLst/>
          </a:prstGeom>
          <a:solidFill>
            <a:srgbClr val="0F172A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46681" y="150418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main.py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73096" y="1766606"/>
            <a:ext cx="1645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</a:rPr>
              <a:t>launcher script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742045" y="2103555"/>
            <a:ext cx="1207008" cy="493776"/>
          </a:xfrm>
          <a:prstGeom prst="rect">
            <a:avLst/>
          </a:prstGeom>
          <a:solidFill>
            <a:srgbClr val="0F172A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09455" y="2099999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run_mode.txt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77379" y="2307354"/>
            <a:ext cx="1645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</a:rPr>
              <a:t>"classify" or "detect"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1320074" y="1975104"/>
            <a:ext cx="0" cy="13520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  <a:tailEnd type="arrow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2348377" y="1185344"/>
            <a:ext cx="1508760" cy="1691640"/>
          </a:xfrm>
          <a:prstGeom prst="rect">
            <a:avLst/>
          </a:prstGeom>
          <a:solidFill>
            <a:srgbClr val="0F172A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2353598" y="1181353"/>
            <a:ext cx="150876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2441776" y="1197864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Camera capture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439491" y="1453750"/>
            <a:ext cx="1371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Live frame acquisition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&amp; preprocessing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931920" y="1956816"/>
            <a:ext cx="13716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  <a:tailEnd type="arrow"/>
          </a:ln>
        </p:spPr>
        <p:txBody>
          <a:bodyPr/>
          <a:lstStyle/>
          <a:p>
            <a:endParaRPr lang="en-IN" dirty="0"/>
          </a:p>
        </p:txBody>
      </p:sp>
      <p:sp>
        <p:nvSpPr>
          <p:cNvPr id="20" name="Shape 18"/>
          <p:cNvSpPr/>
          <p:nvPr/>
        </p:nvSpPr>
        <p:spPr>
          <a:xfrm>
            <a:off x="4088751" y="1160090"/>
            <a:ext cx="1508760" cy="1691640"/>
          </a:xfrm>
          <a:prstGeom prst="rect">
            <a:avLst/>
          </a:prstGeom>
          <a:solidFill>
            <a:srgbClr val="0F172A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4100290" y="1174205"/>
            <a:ext cx="1508760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217228" y="1207008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TFLite inference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163210" y="1589278"/>
            <a:ext cx="1371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trained.tflite or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detector.tflite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5609050" y="1956816"/>
            <a:ext cx="13716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  <a:tailEnd type="arrow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5753287" y="1158493"/>
            <a:ext cx="1508760" cy="1691640"/>
          </a:xfrm>
          <a:prstGeom prst="rect">
            <a:avLst/>
          </a:prstGeom>
          <a:solidFill>
            <a:srgbClr val="0F172A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5753287" y="1181353"/>
            <a:ext cx="1508760" cy="45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5839135" y="1221957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Confidence filter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817181" y="1547223"/>
            <a:ext cx="1371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Threshold check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filter low-confidence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7262047" y="1961751"/>
            <a:ext cx="13716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  <a:tailEnd type="arrow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7408861" y="1181353"/>
            <a:ext cx="1508760" cy="1691640"/>
          </a:xfrm>
          <a:prstGeom prst="rect">
            <a:avLst/>
          </a:prstGeom>
          <a:solidFill>
            <a:srgbClr val="0F172A"/>
          </a:solidFill>
          <a:ln w="12700">
            <a:solidFill>
              <a:srgbClr val="E11D4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7417579" y="1180300"/>
            <a:ext cx="1508760" cy="45720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7488194" y="1199895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Overlay output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7469822" y="1627632"/>
            <a:ext cx="1371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Class label +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bounding boxes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2223299" y="2004313"/>
            <a:ext cx="13716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  <a:tailEnd type="arrow"/>
          </a:ln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502920" y="2971800"/>
            <a:ext cx="3749040" cy="1572768"/>
          </a:xfrm>
          <a:prstGeom prst="rect">
            <a:avLst/>
          </a:prstGeom>
          <a:solidFill>
            <a:srgbClr val="0F2920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502920" y="2971800"/>
            <a:ext cx="374904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594360" y="301752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Classification mode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85800" y="3401568"/>
            <a:ext cx="3383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</a:rPr>
              <a:t>Displays class probabilities as on-screen overlay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</a:rPr>
              <a:t>Prints results via serial output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</a:rPr>
              <a:t>Top-1 prediction shown with confidence score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663440" y="2971800"/>
            <a:ext cx="3749040" cy="1572768"/>
          </a:xfrm>
          <a:prstGeom prst="rect">
            <a:avLst/>
          </a:prstGeom>
          <a:solidFill>
            <a:srgbClr val="2D0A18"/>
          </a:solidFill>
          <a:ln w="12700">
            <a:solidFill>
              <a:srgbClr val="E11D4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Shape 38"/>
          <p:cNvSpPr/>
          <p:nvPr/>
        </p:nvSpPr>
        <p:spPr>
          <a:xfrm>
            <a:off x="4663440" y="2971800"/>
            <a:ext cx="3749040" cy="45720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4754880" y="301752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Detection mode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754880" y="3401568"/>
            <a:ext cx="3383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</a:rPr>
              <a:t>Draws bounding boxes around waste items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</a:rPr>
              <a:t>Labels each detection with class name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</a:rPr>
              <a:t>Multiple items detected per frame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332</Words>
  <Application>Microsoft Office PowerPoint</Application>
  <PresentationFormat>On-screen Show (16:9)</PresentationFormat>
  <Paragraphs>106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Waste Classification Architecture</dc:title>
  <dc:subject>PptxGenJS Presentation</dc:subject>
  <dc:creator>PptxGenJS</dc:creator>
  <cp:lastModifiedBy>ULStudent:ROSHNI RAVI..</cp:lastModifiedBy>
  <cp:revision>4</cp:revision>
  <dcterms:created xsi:type="dcterms:W3CDTF">2026-04-28T18:56:38Z</dcterms:created>
  <dcterms:modified xsi:type="dcterms:W3CDTF">2026-04-28T19:21:21Z</dcterms:modified>
</cp:coreProperties>
</file>